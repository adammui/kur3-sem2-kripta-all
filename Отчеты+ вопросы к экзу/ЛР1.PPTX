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61" r:id="rId3"/>
    <p:sldId id="257" r:id="rId4"/>
    <p:sldId id="262" r:id="rId5"/>
    <p:sldId id="263" r:id="rId6"/>
    <p:sldId id="264" r:id="rId7"/>
    <p:sldId id="265" r:id="rId8"/>
    <p:sldId id="258" r:id="rId9"/>
    <p:sldId id="259" r:id="rId10"/>
    <p:sldId id="260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3F95C-43BF-4571-9E19-78A2A5C73F10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F7FEE-B4B0-4519-A925-8D9E6EF89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596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5F7FEE-B4B0-4519-A925-8D9E6EF8906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038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90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75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50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11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908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62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0012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894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0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00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062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512F9-1094-4C1F-B683-1E0343BAF79B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3A6A3-A740-4FB3-A895-3C130A3CD4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3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6228" y="2758658"/>
            <a:ext cx="9144000" cy="2387600"/>
          </a:xfrm>
        </p:spPr>
        <p:txBody>
          <a:bodyPr>
            <a:noAutofit/>
          </a:bodyPr>
          <a:lstStyle/>
          <a:p>
            <a:pPr algn="l"/>
            <a:r>
              <a:rPr lang="ru-RU" dirty="0" smtClean="0"/>
              <a:t>Политика информационной безопасности образовательного учреждения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0" y="6857999"/>
            <a:ext cx="12192000" cy="45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66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1222" y="655319"/>
            <a:ext cx="11321143" cy="5398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Актуальность обеспечения информационной </a:t>
            </a:r>
            <a:r>
              <a:rPr lang="ru-RU" sz="48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безопасности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4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школах и образовательных учреждениях обусловлена необходимостью сохранения конфиденциальности данных сотрудников и обучающихся, исключение </a:t>
            </a:r>
            <a:r>
              <a:rPr lang="ru-RU" sz="4400" dirty="0" err="1" smtClean="0">
                <a:ea typeface="Times New Roman" panose="02020603050405020304" pitchFamily="18" charset="0"/>
                <a:cs typeface="Times New Roman" panose="02020603050405020304" pitchFamily="18" charset="0"/>
              </a:rPr>
              <a:t>несанкциониро</a:t>
            </a:r>
            <a:r>
              <a:rPr lang="en-US" sz="44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44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ванного </a:t>
            </a:r>
            <a:r>
              <a:rPr lang="ru-RU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доступа, утечки и изменения данных.</a:t>
            </a:r>
            <a:endParaRPr lang="ru-RU" sz="3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6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4682067" y="1083731"/>
            <a:ext cx="2827866" cy="965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Руководитель учреждения образования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92667" y="2675462"/>
            <a:ext cx="2827866" cy="965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Заместитель по учебной работе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682067" y="2675462"/>
            <a:ext cx="2827866" cy="965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Заместитель по воспитательной работе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862422" y="2683931"/>
            <a:ext cx="2827866" cy="965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Заведующий</a:t>
            </a:r>
          </a:p>
          <a:p>
            <a:pPr algn="ctr"/>
            <a:r>
              <a:rPr lang="ru-RU" dirty="0" smtClean="0"/>
              <a:t>хозяйственной работой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592667" y="3725326"/>
            <a:ext cx="2827866" cy="965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Учителя начальных классов</a:t>
            </a:r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592667" y="4690526"/>
            <a:ext cx="2827866" cy="965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Учителя - предметники</a:t>
            </a:r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682067" y="3725326"/>
            <a:ext cx="2827866" cy="965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Классные руководители</a:t>
            </a: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4682067" y="4690526"/>
            <a:ext cx="2827866" cy="965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Воспитатели</a:t>
            </a:r>
            <a:endParaRPr lang="ru-RU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682067" y="5655726"/>
            <a:ext cx="2827866" cy="965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Библиотекари</a:t>
            </a:r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862422" y="3725326"/>
            <a:ext cx="2827866" cy="965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Технический персонал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862422" y="4690526"/>
            <a:ext cx="2827866" cy="965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Повара</a:t>
            </a:r>
            <a:endParaRPr lang="ru-RU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8862422" y="5655726"/>
            <a:ext cx="2827866" cy="965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Мед персонал</a:t>
            </a:r>
            <a:endParaRPr lang="ru-RU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592667" y="5655726"/>
            <a:ext cx="2827866" cy="965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Психологи</a:t>
            </a:r>
            <a:endParaRPr lang="ru-RU" dirty="0"/>
          </a:p>
        </p:txBody>
      </p:sp>
      <p:cxnSp>
        <p:nvCxnSpPr>
          <p:cNvPr id="23" name="Прямая со стрелкой 22"/>
          <p:cNvCxnSpPr>
            <a:stCxn id="4" idx="2"/>
            <a:endCxn id="6" idx="0"/>
          </p:cNvCxnSpPr>
          <p:nvPr/>
        </p:nvCxnSpPr>
        <p:spPr>
          <a:xfrm flipH="1">
            <a:off x="2006600" y="2048931"/>
            <a:ext cx="4089400" cy="6265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4" idx="2"/>
            <a:endCxn id="7" idx="0"/>
          </p:cNvCxnSpPr>
          <p:nvPr/>
        </p:nvCxnSpPr>
        <p:spPr>
          <a:xfrm>
            <a:off x="6096000" y="2048931"/>
            <a:ext cx="0" cy="6265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4" idx="2"/>
            <a:endCxn id="8" idx="0"/>
          </p:cNvCxnSpPr>
          <p:nvPr/>
        </p:nvCxnSpPr>
        <p:spPr>
          <a:xfrm>
            <a:off x="6096000" y="2048931"/>
            <a:ext cx="4180355" cy="635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Группа 51"/>
          <p:cNvGrpSpPr/>
          <p:nvPr/>
        </p:nvGrpSpPr>
        <p:grpSpPr>
          <a:xfrm>
            <a:off x="394635" y="3158062"/>
            <a:ext cx="210732" cy="2980264"/>
            <a:chOff x="394635" y="3158062"/>
            <a:chExt cx="210732" cy="2980264"/>
          </a:xfrm>
        </p:grpSpPr>
        <p:cxnSp>
          <p:nvCxnSpPr>
            <p:cNvPr id="40" name="Соединительная линия уступом 39"/>
            <p:cNvCxnSpPr>
              <a:stCxn id="6" idx="1"/>
              <a:endCxn id="17" idx="1"/>
            </p:cNvCxnSpPr>
            <p:nvPr/>
          </p:nvCxnSpPr>
          <p:spPr>
            <a:xfrm rot="10800000" flipV="1">
              <a:off x="592667" y="3158062"/>
              <a:ext cx="12700" cy="2980264"/>
            </a:xfrm>
            <a:prstGeom prst="bentConnector3">
              <a:avLst>
                <a:gd name="adj1" fmla="val 180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Прямая со стрелкой 47"/>
            <p:cNvCxnSpPr>
              <a:endCxn id="9" idx="1"/>
            </p:cNvCxnSpPr>
            <p:nvPr/>
          </p:nvCxnSpPr>
          <p:spPr>
            <a:xfrm>
              <a:off x="394636" y="4207926"/>
              <a:ext cx="19803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Прямая со стрелкой 49"/>
            <p:cNvCxnSpPr/>
            <p:nvPr/>
          </p:nvCxnSpPr>
          <p:spPr>
            <a:xfrm>
              <a:off x="394635" y="5173126"/>
              <a:ext cx="19803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Группа 52"/>
          <p:cNvGrpSpPr/>
          <p:nvPr/>
        </p:nvGrpSpPr>
        <p:grpSpPr>
          <a:xfrm>
            <a:off x="4471157" y="3140678"/>
            <a:ext cx="210732" cy="2980264"/>
            <a:chOff x="394635" y="3158062"/>
            <a:chExt cx="210732" cy="2980264"/>
          </a:xfrm>
        </p:grpSpPr>
        <p:cxnSp>
          <p:nvCxnSpPr>
            <p:cNvPr id="54" name="Соединительная линия уступом 53"/>
            <p:cNvCxnSpPr/>
            <p:nvPr/>
          </p:nvCxnSpPr>
          <p:spPr>
            <a:xfrm rot="10800000" flipV="1">
              <a:off x="592667" y="3158062"/>
              <a:ext cx="12700" cy="2980264"/>
            </a:xfrm>
            <a:prstGeom prst="bentConnector3">
              <a:avLst>
                <a:gd name="adj1" fmla="val 180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/>
            <p:cNvCxnSpPr/>
            <p:nvPr/>
          </p:nvCxnSpPr>
          <p:spPr>
            <a:xfrm>
              <a:off x="394636" y="4207926"/>
              <a:ext cx="19803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Прямая со стрелкой 55"/>
            <p:cNvCxnSpPr/>
            <p:nvPr/>
          </p:nvCxnSpPr>
          <p:spPr>
            <a:xfrm>
              <a:off x="394635" y="5173126"/>
              <a:ext cx="19803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Группа 56"/>
          <p:cNvGrpSpPr/>
          <p:nvPr/>
        </p:nvGrpSpPr>
        <p:grpSpPr>
          <a:xfrm>
            <a:off x="8651690" y="3140678"/>
            <a:ext cx="210732" cy="2980264"/>
            <a:chOff x="394635" y="3158062"/>
            <a:chExt cx="210732" cy="2980264"/>
          </a:xfrm>
        </p:grpSpPr>
        <p:cxnSp>
          <p:nvCxnSpPr>
            <p:cNvPr id="58" name="Соединительная линия уступом 57"/>
            <p:cNvCxnSpPr/>
            <p:nvPr/>
          </p:nvCxnSpPr>
          <p:spPr>
            <a:xfrm rot="10800000" flipV="1">
              <a:off x="592667" y="3158062"/>
              <a:ext cx="12700" cy="2980264"/>
            </a:xfrm>
            <a:prstGeom prst="bentConnector3">
              <a:avLst>
                <a:gd name="adj1" fmla="val 180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Прямая со стрелкой 58"/>
            <p:cNvCxnSpPr/>
            <p:nvPr/>
          </p:nvCxnSpPr>
          <p:spPr>
            <a:xfrm>
              <a:off x="394636" y="4207926"/>
              <a:ext cx="19803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9"/>
            <p:cNvCxnSpPr/>
            <p:nvPr/>
          </p:nvCxnSpPr>
          <p:spPr>
            <a:xfrm>
              <a:off x="394635" y="5173126"/>
              <a:ext cx="19803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Прямоугольник 60"/>
          <p:cNvSpPr/>
          <p:nvPr/>
        </p:nvSpPr>
        <p:spPr>
          <a:xfrm>
            <a:off x="0" y="4989"/>
            <a:ext cx="12192000" cy="8783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Заголовок 1"/>
          <p:cNvSpPr txBox="1">
            <a:spLocks/>
          </p:cNvSpPr>
          <p:nvPr/>
        </p:nvSpPr>
        <p:spPr>
          <a:xfrm>
            <a:off x="1038725" y="249396"/>
            <a:ext cx="10515600" cy="633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>
                <a:solidFill>
                  <a:schemeClr val="bg1"/>
                </a:solidFill>
              </a:rPr>
              <a:t>Структура</a:t>
            </a:r>
            <a:r>
              <a:rPr lang="ru-RU" sz="3200" b="1" dirty="0" smtClean="0"/>
              <a:t> </a:t>
            </a:r>
            <a:r>
              <a:rPr lang="ru-RU" sz="3200" b="1" dirty="0" smtClean="0">
                <a:solidFill>
                  <a:schemeClr val="bg1"/>
                </a:solidFill>
              </a:rPr>
              <a:t>учреждения</a:t>
            </a:r>
            <a:r>
              <a:rPr lang="ru-RU" sz="3200" b="1" dirty="0" smtClean="0"/>
              <a:t> </a:t>
            </a:r>
            <a:r>
              <a:rPr lang="ru-RU" sz="3200" b="1" dirty="0" smtClean="0">
                <a:solidFill>
                  <a:schemeClr val="bg1"/>
                </a:solidFill>
              </a:rPr>
              <a:t>образования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04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616017" y="1322468"/>
            <a:ext cx="10948966" cy="5184210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 сохранение конфиденциальности </a:t>
            </a:r>
            <a:r>
              <a:rPr lang="ru-RU" sz="3200" b="1" dirty="0" smtClean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ресурсов.</a:t>
            </a:r>
            <a:endParaRPr lang="ru-RU" sz="3200" b="1" dirty="0">
              <a:solidFill>
                <a:schemeClr val="tx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 обеспечение постоянного </a:t>
            </a:r>
            <a:r>
              <a:rPr lang="ru-RU" sz="3200" b="1" dirty="0" smtClean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и бесперебойного доступа ко </a:t>
            </a:r>
            <a:r>
              <a:rPr lang="ru-RU" sz="3200" b="1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всем информационным </a:t>
            </a:r>
            <a:r>
              <a:rPr lang="ru-RU" sz="3200" b="1" dirty="0" smtClean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ресурсам.</a:t>
            </a:r>
            <a:endParaRPr lang="ru-RU" sz="3200" b="1" dirty="0">
              <a:solidFill>
                <a:schemeClr val="tx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 повышение осведомленности </a:t>
            </a:r>
            <a:r>
              <a:rPr lang="ru-RU" sz="3200" b="1" dirty="0" smtClean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работников</a:t>
            </a:r>
            <a:r>
              <a:rPr lang="ru-RU" sz="3200" b="1" dirty="0" smtClean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о риске.</a:t>
            </a:r>
            <a:endParaRPr lang="ru-RU" sz="3200" b="1" dirty="0" smtClean="0">
              <a:solidFill>
                <a:schemeClr val="tx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 smtClean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 определение обязанностей сотрудников по обеспечению безопасности информации.</a:t>
            </a:r>
            <a:endParaRPr lang="ru-RU" sz="3200" b="1" dirty="0" smtClean="0">
              <a:solidFill>
                <a:schemeClr val="tx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3200" b="1" dirty="0" smtClean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3200" b="1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повышение уровня эффективности </a:t>
            </a:r>
            <a:r>
              <a:rPr lang="ru-RU" sz="3200" b="1" dirty="0" smtClean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мер защиты.</a:t>
            </a:r>
            <a:endParaRPr lang="ru-RU" sz="3200" b="1" dirty="0">
              <a:solidFill>
                <a:schemeClr val="tx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541417" y="475007"/>
            <a:ext cx="9265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ea typeface="Times New Roman" panose="02020603050405020304" pitchFamily="18" charset="0"/>
              </a:rPr>
              <a:t>Цели политики информационной безопасности: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18888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616017" y="1322468"/>
            <a:ext cx="10948966" cy="51842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chemeClr val="tx1"/>
                </a:solidFill>
              </a:rPr>
              <a:t>- </a:t>
            </a:r>
            <a:r>
              <a:rPr lang="ru-RU" sz="3200" b="1" dirty="0">
                <a:solidFill>
                  <a:schemeClr val="tx1"/>
                </a:solidFill>
              </a:rPr>
              <a:t>разработка требований по обеспечению безопасности.</a:t>
            </a:r>
          </a:p>
          <a:p>
            <a:r>
              <a:rPr lang="ru-RU" sz="3200" b="1" dirty="0">
                <a:solidFill>
                  <a:schemeClr val="tx1"/>
                </a:solidFill>
              </a:rPr>
              <a:t>- контроль выполнения установленных </a:t>
            </a:r>
            <a:r>
              <a:rPr lang="ru-RU" sz="3200" b="1" dirty="0" smtClean="0">
                <a:solidFill>
                  <a:schemeClr val="tx1"/>
                </a:solidFill>
              </a:rPr>
              <a:t>требований.</a:t>
            </a:r>
            <a:endParaRPr lang="ru-RU" sz="3200" b="1" dirty="0">
              <a:solidFill>
                <a:schemeClr val="tx1"/>
              </a:solidFill>
            </a:endParaRPr>
          </a:p>
          <a:p>
            <a:r>
              <a:rPr lang="ru-RU" sz="3200" b="1" dirty="0">
                <a:solidFill>
                  <a:schemeClr val="tx1"/>
                </a:solidFill>
              </a:rPr>
              <a:t>- разработка нормативных </a:t>
            </a:r>
            <a:r>
              <a:rPr lang="ru-RU" sz="3200" b="1" dirty="0" smtClean="0">
                <a:solidFill>
                  <a:schemeClr val="tx1"/>
                </a:solidFill>
              </a:rPr>
              <a:t>документов.</a:t>
            </a:r>
            <a:endParaRPr lang="ru-RU" sz="3200" b="1" dirty="0">
              <a:solidFill>
                <a:schemeClr val="tx1"/>
              </a:solidFill>
            </a:endParaRPr>
          </a:p>
          <a:p>
            <a:r>
              <a:rPr lang="ru-RU" sz="3200" b="1" dirty="0">
                <a:solidFill>
                  <a:schemeClr val="tx1"/>
                </a:solidFill>
              </a:rPr>
              <a:t>- выявление, оценка, прогнозирование и предотвращение </a:t>
            </a:r>
            <a:r>
              <a:rPr lang="ru-RU" sz="3200" b="1" dirty="0" smtClean="0">
                <a:solidFill>
                  <a:schemeClr val="tx1"/>
                </a:solidFill>
              </a:rPr>
              <a:t>угроз.</a:t>
            </a:r>
            <a:endParaRPr lang="ru-RU" sz="3200" b="1" dirty="0">
              <a:solidFill>
                <a:schemeClr val="tx1"/>
              </a:solidFill>
            </a:endParaRPr>
          </a:p>
          <a:p>
            <a:r>
              <a:rPr lang="ru-RU" sz="3200" b="1" dirty="0">
                <a:solidFill>
                  <a:schemeClr val="tx1"/>
                </a:solidFill>
              </a:rPr>
              <a:t>- организация антивирусной </a:t>
            </a:r>
            <a:r>
              <a:rPr lang="ru-RU" sz="3200" b="1" dirty="0" smtClean="0">
                <a:solidFill>
                  <a:schemeClr val="tx1"/>
                </a:solidFill>
              </a:rPr>
              <a:t>защиты.</a:t>
            </a:r>
            <a:endParaRPr lang="ru-RU" sz="3200" b="1" dirty="0">
              <a:solidFill>
                <a:schemeClr val="tx1"/>
              </a:solidFill>
            </a:endParaRPr>
          </a:p>
          <a:p>
            <a:r>
              <a:rPr lang="ru-RU" sz="3200" b="1" dirty="0">
                <a:solidFill>
                  <a:schemeClr val="tx1"/>
                </a:solidFill>
              </a:rPr>
              <a:t>- защита от утечки и несанкционированного </a:t>
            </a:r>
            <a:r>
              <a:rPr lang="ru-RU" sz="3200" b="1" dirty="0" smtClean="0">
                <a:solidFill>
                  <a:schemeClr val="tx1"/>
                </a:solidFill>
              </a:rPr>
              <a:t>доступа.</a:t>
            </a:r>
            <a:endParaRPr lang="ru-RU" sz="3200" b="1" dirty="0">
              <a:solidFill>
                <a:schemeClr val="tx1"/>
              </a:solidFill>
            </a:endParaRPr>
          </a:p>
          <a:p>
            <a:r>
              <a:rPr lang="ru-RU" sz="3200" b="1" dirty="0">
                <a:solidFill>
                  <a:schemeClr val="tx1"/>
                </a:solidFill>
              </a:rPr>
              <a:t>- организация плановых проверок информационной </a:t>
            </a:r>
            <a:r>
              <a:rPr lang="ru-RU" sz="3200" b="1" dirty="0" smtClean="0">
                <a:solidFill>
                  <a:schemeClr val="tx1"/>
                </a:solidFill>
              </a:rPr>
              <a:t>безопасности.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541416" y="475007"/>
            <a:ext cx="94052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>
                <a:ea typeface="Times New Roman" panose="02020603050405020304" pitchFamily="18" charset="0"/>
              </a:rPr>
              <a:t>Задачи </a:t>
            </a:r>
            <a:r>
              <a:rPr lang="ru-RU" sz="3200" b="1" dirty="0">
                <a:ea typeface="Times New Roman" panose="02020603050405020304" pitchFamily="18" charset="0"/>
              </a:rPr>
              <a:t>политики информационной безопасности: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9066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2628" y="263525"/>
            <a:ext cx="10515600" cy="1325563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ru-RU" sz="4800" b="1" dirty="0" smtClean="0">
                <a:latin typeface="+mn-lt"/>
              </a:rPr>
              <a:t>Объекты защиты</a:t>
            </a:r>
            <a:endParaRPr lang="ru-RU" sz="4800" b="1" dirty="0"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472974"/>
            <a:ext cx="10624457" cy="501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07000"/>
              </a:lnSpc>
              <a:spcAft>
                <a:spcPts val="800"/>
              </a:spcAft>
            </a:pP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- информация о финансово-экономической деятельности</a:t>
            </a:r>
            <a:endParaRPr lang="ru-RU" sz="36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07000"/>
              </a:lnSpc>
              <a:spcAft>
                <a:spcPts val="800"/>
              </a:spcAft>
            </a:pP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- персональные данные работников и учеников школы, в том числе имя, фамилия, домашний адрес, место и дата рождения и </a:t>
            </a:r>
            <a:r>
              <a:rPr lang="ru-RU" sz="36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тд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07000"/>
              </a:lnSpc>
              <a:spcAft>
                <a:spcPts val="800"/>
              </a:spcAft>
            </a:pP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- другая информация, </a:t>
            </a:r>
            <a:r>
              <a:rPr lang="ru-RU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отмеченная 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грифом «Для служебного пользования» или «Конфиденциально».</a:t>
            </a:r>
            <a:endParaRPr lang="ru-RU" sz="3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33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2628" y="263525"/>
            <a:ext cx="10515600" cy="1325563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ru-RU" sz="4800" b="1" dirty="0" smtClean="0">
                <a:latin typeface="+mn-lt"/>
              </a:rPr>
              <a:t>Источники угроз</a:t>
            </a:r>
            <a:endParaRPr lang="ru-RU" sz="4800" b="1" dirty="0"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472974"/>
            <a:ext cx="10624457" cy="501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0215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нарушение 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конфиденциальности (разглашение, утечка) 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сведений.</a:t>
            </a:r>
          </a:p>
          <a:p>
            <a:pPr lvl="0" indent="450215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нарушение 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работоспособности (дезорганизация работы) школы, блокирование информации, нарушение технологических процессов, срыв своевременного решения задач; </a:t>
            </a:r>
            <a:endParaRPr lang="ru-RU" sz="3600" b="1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50215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нарушение целостности, а 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также фальсификация (подделка) документов. </a:t>
            </a:r>
          </a:p>
        </p:txBody>
      </p:sp>
    </p:spTree>
    <p:extLst>
      <p:ext uri="{BB962C8B-B14F-4D97-AF65-F5344CB8AC3E}">
        <p14:creationId xmlns:p14="http://schemas.microsoft.com/office/powerpoint/2010/main" val="166654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030931" y="192505"/>
            <a:ext cx="77868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+mj-lt"/>
              </a:rPr>
              <a:t>Оценка ущерба учреждению образования при нарушении информационной безопасности </a:t>
            </a:r>
            <a:endParaRPr lang="ru-RU" sz="2800" b="1" dirty="0">
              <a:latin typeface="+mj-lt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393764"/>
              </p:ext>
            </p:extLst>
          </p:nvPr>
        </p:nvGraphicFramePr>
        <p:xfrm>
          <a:off x="568960" y="1203157"/>
          <a:ext cx="11144985" cy="5303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19722"/>
                <a:gridCol w="9625263"/>
              </a:tblGrid>
              <a:tr h="5727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Величина ущерба</a:t>
                      </a:r>
                      <a:endParaRPr lang="ru-RU" sz="2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Описание</a:t>
                      </a:r>
                      <a:endParaRPr lang="ru-RU" sz="2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1</a:t>
                      </a:r>
                      <a:endParaRPr lang="ru-RU" sz="24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Раскрытие информации принесет минимальный моральный или финансовый ущерб школе</a:t>
                      </a:r>
                      <a:endParaRPr lang="ru-RU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2</a:t>
                      </a:r>
                      <a:endParaRPr lang="ru-RU" sz="24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Ущерб от атаки есть, но он незначителен</a:t>
                      </a:r>
                      <a:r>
                        <a:rPr lang="ru-RU" sz="2400" baseline="0" dirty="0" smtClean="0"/>
                        <a:t>, небольшие материальные расходы или потери репутации</a:t>
                      </a:r>
                      <a:endParaRPr lang="ru-R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3</a:t>
                      </a:r>
                      <a:endParaRPr lang="ru-RU" sz="24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Из-за</a:t>
                      </a:r>
                      <a:r>
                        <a:rPr lang="ru-RU" sz="2400" baseline="0" dirty="0" smtClean="0"/>
                        <a:t> потерь или подделки большого кол-ва информации у</a:t>
                      </a:r>
                      <a:r>
                        <a:rPr lang="ru-RU" sz="2400" dirty="0" smtClean="0"/>
                        <a:t>чреждение образования</a:t>
                      </a:r>
                      <a:r>
                        <a:rPr lang="ru-RU" sz="2400" baseline="0" dirty="0" smtClean="0"/>
                        <a:t> терпит убытки, снижается репутация, доверие работников.</a:t>
                      </a:r>
                      <a:endParaRPr lang="ru-RU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4</a:t>
                      </a:r>
                      <a:endParaRPr lang="ru-RU" sz="24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Потери очень значительны, школа теряет репутацию</a:t>
                      </a:r>
                      <a:r>
                        <a:rPr lang="ru-RU" sz="2400" baseline="0" dirty="0" smtClean="0"/>
                        <a:t>, безопасность любых личных данных под большой угрозой, ученики меняют школу</a:t>
                      </a:r>
                      <a:r>
                        <a:rPr lang="ru-RU" sz="2400" dirty="0" smtClean="0"/>
                        <a:t>. Для восстановления положения требуется</a:t>
                      </a:r>
                      <a:r>
                        <a:rPr lang="ru-RU" sz="2400" baseline="0" dirty="0" smtClean="0"/>
                        <a:t> полный пересмотр устройства школы и политики безопасности.</a:t>
                      </a:r>
                      <a:endParaRPr lang="ru-RU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5</a:t>
                      </a:r>
                      <a:endParaRPr lang="ru-RU" sz="24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Учреждение образования закрывается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095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13297" y="233760"/>
            <a:ext cx="906699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+mj-lt"/>
              </a:rPr>
              <a:t>Вероятностно-временная шкала реализации несанкционированного доступа к информационным ресурсам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885175"/>
              </p:ext>
            </p:extLst>
          </p:nvPr>
        </p:nvGraphicFramePr>
        <p:xfrm>
          <a:off x="568960" y="1674795"/>
          <a:ext cx="11144985" cy="4053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4358"/>
                <a:gridCol w="9230627"/>
              </a:tblGrid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Вероятность</a:t>
                      </a:r>
                      <a:r>
                        <a:rPr lang="ru-RU" sz="2800" baseline="0" dirty="0" smtClean="0"/>
                        <a:t> события</a:t>
                      </a:r>
                      <a:endParaRPr lang="ru-RU" sz="28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Средняя частота события</a:t>
                      </a:r>
                      <a:endParaRPr lang="ru-RU" sz="28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0</a:t>
                      </a:r>
                      <a:endParaRPr lang="ru-RU" sz="2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Данный вид атаки отсутствует</a:t>
                      </a:r>
                      <a:endParaRPr lang="ru-RU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0,1</a:t>
                      </a:r>
                      <a:endParaRPr lang="ru-RU" sz="2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Реже, чем раз в год</a:t>
                      </a:r>
                      <a:endParaRPr lang="ru-RU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0,2</a:t>
                      </a:r>
                      <a:endParaRPr lang="ru-RU" sz="2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Около 1 раза в год</a:t>
                      </a:r>
                      <a:endParaRPr lang="ru-RU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0,3</a:t>
                      </a:r>
                      <a:endParaRPr lang="ru-RU" sz="2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Около 1 раза в месяц</a:t>
                      </a:r>
                      <a:endParaRPr lang="ru-RU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0,4</a:t>
                      </a:r>
                      <a:endParaRPr lang="ru-RU" sz="2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Около 1 раза в неделю</a:t>
                      </a:r>
                      <a:endParaRPr lang="ru-RU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0,5</a:t>
                      </a:r>
                      <a:endParaRPr lang="ru-RU" sz="28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Практически ежедневно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79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83908" y="368513"/>
            <a:ext cx="9942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+mj-lt"/>
              </a:rPr>
              <a:t>Оценка </a:t>
            </a:r>
            <a:r>
              <a:rPr lang="ru-RU" sz="2800" b="1" dirty="0" smtClean="0">
                <a:latin typeface="+mj-lt"/>
              </a:rPr>
              <a:t>рисков</a:t>
            </a:r>
            <a:r>
              <a:rPr lang="ru-RU" sz="2400" b="1" dirty="0" smtClean="0">
                <a:latin typeface="+mj-lt"/>
              </a:rPr>
              <a:t> информационной безопасности в учреждении образования</a:t>
            </a:r>
            <a:endParaRPr lang="ru-RU" sz="2400" b="1" dirty="0">
              <a:latin typeface="+mj-lt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907557"/>
              </p:ext>
            </p:extLst>
          </p:nvPr>
        </p:nvGraphicFramePr>
        <p:xfrm>
          <a:off x="568960" y="1193533"/>
          <a:ext cx="11144985" cy="533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02964"/>
                <a:gridCol w="1511167"/>
                <a:gridCol w="1780673"/>
                <a:gridCol w="2050181"/>
              </a:tblGrid>
              <a:tr h="6063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Описание атаки </a:t>
                      </a:r>
                      <a:endParaRPr lang="ru-RU" sz="20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Ущерб</a:t>
                      </a:r>
                      <a:endParaRPr lang="ru-RU" sz="20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Вероятность</a:t>
                      </a:r>
                      <a:endParaRPr lang="ru-RU" sz="20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Риск (Ущерб × Вероятность) 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Случайное</a:t>
                      </a:r>
                      <a:r>
                        <a:rPr lang="ru-RU" sz="2000" baseline="0" dirty="0" smtClean="0"/>
                        <a:t> нарушение регламентов безопасности сотрудниками </a:t>
                      </a:r>
                      <a:endParaRPr lang="ru-RU" sz="20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1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0,5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0,5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Преднамеренное нарушение</a:t>
                      </a:r>
                      <a:r>
                        <a:rPr lang="ru-RU" sz="2000" baseline="0" dirty="0" smtClean="0"/>
                        <a:t> сотрудниками информационной безопасности, конфиденциальности данных с корыстными целями</a:t>
                      </a:r>
                      <a:endParaRPr lang="ru-RU" sz="2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2-3</a:t>
                      </a:r>
                      <a:endParaRPr lang="ru-RU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0,3</a:t>
                      </a:r>
                      <a:endParaRPr lang="ru-RU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0,6-0,9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Несанкционированное вмешательство посторонних лиц с целью уничтожения, распространения</a:t>
                      </a:r>
                      <a:r>
                        <a:rPr lang="ru-RU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или подделки информации</a:t>
                      </a:r>
                      <a:endParaRPr lang="ru-RU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3-4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0,1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0,3-0,4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Вмешательство внешних преступных группировок</a:t>
                      </a:r>
                      <a:endParaRPr lang="ru-RU" sz="2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4</a:t>
                      </a:r>
                      <a:endParaRPr lang="ru-RU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0,1</a:t>
                      </a:r>
                      <a:endParaRPr lang="ru-RU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0,4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Ошибки,</a:t>
                      </a:r>
                      <a:r>
                        <a:rPr lang="ru-RU" sz="2000" baseline="0" dirty="0" smtClean="0"/>
                        <a:t> допущенные при планировании работы учреждения образования</a:t>
                      </a:r>
                      <a:endParaRPr lang="ru-RU" sz="20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3-4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0,1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0,3-0,4</a:t>
                      </a:r>
                      <a:endParaRPr lang="ru-RU" sz="240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Аварии, ЧС, стихийные</a:t>
                      </a:r>
                      <a:r>
                        <a:rPr lang="ru-RU" sz="2000" baseline="0" dirty="0" smtClean="0"/>
                        <a:t> бедствия</a:t>
                      </a:r>
                      <a:endParaRPr lang="ru-RU" sz="2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0,5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27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2628" y="263525"/>
            <a:ext cx="10515600" cy="1325563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ru-RU" sz="4800" b="1" dirty="0" smtClean="0">
                <a:latin typeface="+mn-lt"/>
              </a:rPr>
              <a:t>Меры по обеспечению безопасности</a:t>
            </a:r>
            <a:endParaRPr lang="ru-RU" sz="4800" b="1" dirty="0"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472974"/>
            <a:ext cx="10624457" cy="444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ru-RU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и поддержание </a:t>
            </a:r>
            <a:r>
              <a:rPr lang="ru-RU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Политики 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информационной </a:t>
            </a:r>
            <a:r>
              <a:rPr lang="ru-RU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безопасности и нормативно-методических документов.</a:t>
            </a:r>
          </a:p>
          <a:p>
            <a:pPr indent="450215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ru-RU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осуществление 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контроля (мониторинга) функционирования системы Информационной безопасности; </a:t>
            </a:r>
          </a:p>
          <a:p>
            <a:pPr indent="450215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оценку рисков, связанных с нарушениями ИБ.</a:t>
            </a:r>
          </a:p>
        </p:txBody>
      </p:sp>
    </p:spTree>
    <p:extLst>
      <p:ext uri="{BB962C8B-B14F-4D97-AF65-F5344CB8AC3E}">
        <p14:creationId xmlns:p14="http://schemas.microsoft.com/office/powerpoint/2010/main" val="272452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525</TotalTime>
  <Words>506</Words>
  <Application>Microsoft Office PowerPoint</Application>
  <PresentationFormat>Широкоэкранный</PresentationFormat>
  <Paragraphs>102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Политика информационной безопасности образовательного учреждения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Объекты защиты</vt:lpstr>
      <vt:lpstr>Источники угроз</vt:lpstr>
      <vt:lpstr>Презентация PowerPoint</vt:lpstr>
      <vt:lpstr>Презентация PowerPoint</vt:lpstr>
      <vt:lpstr>Презентация PowerPoint</vt:lpstr>
      <vt:lpstr>Меры по обеспечению безопасности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Reyn</dc:creator>
  <cp:lastModifiedBy>Reyn</cp:lastModifiedBy>
  <cp:revision>21</cp:revision>
  <dcterms:created xsi:type="dcterms:W3CDTF">2022-02-16T09:11:35Z</dcterms:created>
  <dcterms:modified xsi:type="dcterms:W3CDTF">2022-03-02T09:35:29Z</dcterms:modified>
</cp:coreProperties>
</file>